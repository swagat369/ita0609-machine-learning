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er" panose="020B0604020202020204" charset="0"/>
      <p:regular r:id="rId8"/>
    </p:embeddedFont>
    <p:embeddedFont>
      <p:font typeface="Inter Light" panose="020B0604020202020204" charset="0"/>
      <p:regular r:id="rId9"/>
    </p:embeddedFont>
    <p:embeddedFont>
      <p:font typeface="Inter Semi-Bold" panose="020B0604020202020204" charset="0"/>
      <p:regular r:id="rId10"/>
    </p:embeddedFont>
    <p:embeddedFont>
      <p:font typeface="Space Mono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22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3.sv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2617420" y="2200221"/>
            <a:ext cx="5842051" cy="7810500"/>
            <a:chOff x="0" y="0"/>
            <a:chExt cx="1381939" cy="1939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1939" cy="1939814"/>
            </a:xfrm>
            <a:custGeom>
              <a:avLst/>
              <a:gdLst/>
              <a:ahLst/>
              <a:cxnLst/>
              <a:rect l="l" t="t" r="r" b="b"/>
              <a:pathLst>
                <a:path w="1381939" h="1939814">
                  <a:moveTo>
                    <a:pt x="0" y="124380"/>
                  </a:moveTo>
                  <a:lnTo>
                    <a:pt x="0" y="1543657"/>
                  </a:lnTo>
                  <a:cubicBezTo>
                    <a:pt x="0" y="1612350"/>
                    <a:pt x="55687" y="1668037"/>
                    <a:pt x="124380" y="1668037"/>
                  </a:cubicBezTo>
                  <a:lnTo>
                    <a:pt x="267087" y="1668037"/>
                  </a:lnTo>
                  <a:cubicBezTo>
                    <a:pt x="303063" y="1668037"/>
                    <a:pt x="337276" y="1683613"/>
                    <a:pt x="360898" y="1710747"/>
                  </a:cubicBezTo>
                  <a:lnTo>
                    <a:pt x="523133" y="1897103"/>
                  </a:lnTo>
                  <a:cubicBezTo>
                    <a:pt x="546755" y="1924237"/>
                    <a:pt x="580969" y="1939814"/>
                    <a:pt x="616944" y="1939814"/>
                  </a:cubicBezTo>
                  <a:lnTo>
                    <a:pt x="1088079" y="1939814"/>
                  </a:lnTo>
                  <a:cubicBezTo>
                    <a:pt x="1123987" y="1939814"/>
                    <a:pt x="1158143" y="1924295"/>
                    <a:pt x="1181763" y="1897249"/>
                  </a:cubicBezTo>
                  <a:lnTo>
                    <a:pt x="1340954" y="1714967"/>
                  </a:lnTo>
                  <a:cubicBezTo>
                    <a:pt x="1367377" y="1684710"/>
                    <a:pt x="1381939" y="1645900"/>
                    <a:pt x="1381939" y="1605729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445" r="-445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-5025278" y="56007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2557447" y="6153691"/>
            <a:ext cx="3099280" cy="642938"/>
            <a:chOff x="0" y="0"/>
            <a:chExt cx="2448814" cy="508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48814" cy="508000"/>
            </a:xfrm>
            <a:custGeom>
              <a:avLst/>
              <a:gdLst/>
              <a:ahLst/>
              <a:cxnLst/>
              <a:rect l="l" t="t" r="r" b="b"/>
              <a:pathLst>
                <a:path w="2448814" h="508000">
                  <a:moveTo>
                    <a:pt x="0" y="0"/>
                  </a:moveTo>
                  <a:lnTo>
                    <a:pt x="2448814" y="0"/>
                  </a:lnTo>
                  <a:lnTo>
                    <a:pt x="2448814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48814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64249" y="7739008"/>
            <a:ext cx="3167990" cy="1432972"/>
            <a:chOff x="0" y="0"/>
            <a:chExt cx="2503103" cy="1132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03103" cy="1132224"/>
            </a:xfrm>
            <a:custGeom>
              <a:avLst/>
              <a:gdLst/>
              <a:ahLst/>
              <a:cxnLst/>
              <a:rect l="l" t="t" r="r" b="b"/>
              <a:pathLst>
                <a:path w="2503103" h="1132224">
                  <a:moveTo>
                    <a:pt x="0" y="0"/>
                  </a:moveTo>
                  <a:lnTo>
                    <a:pt x="2503103" y="0"/>
                  </a:lnTo>
                  <a:lnTo>
                    <a:pt x="2503103" y="1132224"/>
                  </a:lnTo>
                  <a:lnTo>
                    <a:pt x="0" y="1132224"/>
                  </a:lnTo>
                  <a:close/>
                </a:path>
              </a:pathLst>
            </a:custGeom>
            <a:gradFill rotWithShape="1">
              <a:gsLst>
                <a:gs pos="0">
                  <a:srgbClr val="9B9B9B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5400000"/>
            </a:gra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503103" cy="1170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708997"/>
            <a:ext cx="10367767" cy="1704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27"/>
              </a:lnSpc>
            </a:pPr>
            <a:r>
              <a:rPr lang="en-US" sz="13186" b="1" spc="-988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LEARNING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57447" y="4295682"/>
            <a:ext cx="8839020" cy="170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27"/>
              </a:lnSpc>
            </a:pPr>
            <a:r>
              <a:rPr lang="en-US" sz="13186" b="1" spc="-988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PROBLEMS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57447" y="6302757"/>
            <a:ext cx="3099280" cy="298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2"/>
              </a:lnSpc>
            </a:pPr>
            <a:r>
              <a:rPr lang="en-US" sz="1751" b="1" spc="-43" dirty="0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ITA 0609 Machine Learning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40534" y="7903179"/>
            <a:ext cx="1879310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dirty="0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SUPERVISED, UNSUPERVISED &amp; REINFORCEMENT LEARNING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64782" y="8610746"/>
            <a:ext cx="5410200" cy="1350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58"/>
              </a:lnSpc>
            </a:pPr>
            <a:r>
              <a:rPr lang="en-US" sz="4400" dirty="0">
                <a:solidFill>
                  <a:srgbClr val="FFC000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Presented by</a:t>
            </a:r>
          </a:p>
          <a:p>
            <a:pPr marL="0" lvl="0" indent="0" algn="l">
              <a:lnSpc>
                <a:spcPts val="1958"/>
              </a:lnSpc>
            </a:pPr>
            <a:endParaRPr lang="en-US" sz="4400" dirty="0">
              <a:solidFill>
                <a:srgbClr val="FFC000"/>
              </a:solidFill>
              <a:latin typeface="Times New Roman" panose="02020603050405020304" pitchFamily="18" charset="0"/>
              <a:ea typeface="Inter Light"/>
              <a:cs typeface="Times New Roman" panose="02020603050405020304" pitchFamily="18" charset="0"/>
              <a:sym typeface="Inter Light"/>
            </a:endParaRPr>
          </a:p>
          <a:p>
            <a:pPr marL="0" lvl="0" indent="0" algn="l">
              <a:lnSpc>
                <a:spcPts val="1958"/>
              </a:lnSpc>
            </a:pPr>
            <a:r>
              <a:rPr lang="en-US" sz="4400" dirty="0" err="1">
                <a:solidFill>
                  <a:srgbClr val="FFC000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S.Swagat</a:t>
            </a:r>
            <a:endParaRPr lang="en-US" sz="4400" dirty="0">
              <a:solidFill>
                <a:srgbClr val="FFC000"/>
              </a:solidFill>
              <a:latin typeface="Times New Roman" panose="02020603050405020304" pitchFamily="18" charset="0"/>
              <a:ea typeface="Inter Light"/>
              <a:cs typeface="Times New Roman" panose="02020603050405020304" pitchFamily="18" charset="0"/>
              <a:sym typeface="Inter Light"/>
            </a:endParaRPr>
          </a:p>
          <a:p>
            <a:pPr marL="0" lvl="0" indent="0" algn="l">
              <a:lnSpc>
                <a:spcPts val="1958"/>
              </a:lnSpc>
            </a:pPr>
            <a:endParaRPr lang="en-US" sz="4400" dirty="0">
              <a:solidFill>
                <a:srgbClr val="FFC000"/>
              </a:solidFill>
              <a:latin typeface="Times New Roman" panose="02020603050405020304" pitchFamily="18" charset="0"/>
              <a:ea typeface="Inter Light"/>
              <a:cs typeface="Times New Roman" panose="02020603050405020304" pitchFamily="18" charset="0"/>
              <a:sym typeface="Inter Light"/>
            </a:endParaRPr>
          </a:p>
          <a:p>
            <a:pPr marL="0" lvl="0" indent="0" algn="l">
              <a:lnSpc>
                <a:spcPts val="1958"/>
              </a:lnSpc>
            </a:pPr>
            <a:r>
              <a:rPr lang="en-US" sz="4400" dirty="0">
                <a:solidFill>
                  <a:srgbClr val="FFC000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192312007</a:t>
            </a:r>
          </a:p>
        </p:txBody>
      </p:sp>
      <p:pic>
        <p:nvPicPr>
          <p:cNvPr id="21" name="Picture 20" descr="Saveetha Institute of Medical and ...">
            <a:extLst>
              <a:ext uri="{FF2B5EF4-FFF2-40B4-BE49-F238E27FC236}">
                <a16:creationId xmlns:a16="http://schemas.microsoft.com/office/drawing/2014/main" id="{381E00B8-CF64-4316-A9CC-596BC6C6A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8288000" cy="21526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2" name="TextBox 20">
            <a:extLst>
              <a:ext uri="{FF2B5EF4-FFF2-40B4-BE49-F238E27FC236}">
                <a16:creationId xmlns:a16="http://schemas.microsoft.com/office/drawing/2014/main" id="{5136163A-CBD0-710B-B1A6-A4B6DEF9A695}"/>
              </a:ext>
            </a:extLst>
          </p:cNvPr>
          <p:cNvSpPr txBox="1"/>
          <p:nvPr/>
        </p:nvSpPr>
        <p:spPr>
          <a:xfrm>
            <a:off x="664751" y="7739008"/>
            <a:ext cx="5410200" cy="1350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58"/>
              </a:lnSpc>
            </a:pPr>
            <a:r>
              <a:rPr lang="en-US" sz="4400" dirty="0">
                <a:solidFill>
                  <a:srgbClr val="FFC000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Faculty</a:t>
            </a:r>
          </a:p>
          <a:p>
            <a:pPr>
              <a:lnSpc>
                <a:spcPts val="1958"/>
              </a:lnSpc>
            </a:pPr>
            <a:endParaRPr lang="en-IN" sz="4400" b="1" i="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>
              <a:lnSpc>
                <a:spcPts val="1958"/>
              </a:lnSpc>
            </a:pPr>
            <a:endParaRPr lang="en-US" sz="4400" dirty="0">
              <a:solidFill>
                <a:srgbClr val="FFC000"/>
              </a:solidFill>
              <a:latin typeface="Times New Roman" panose="02020603050405020304" pitchFamily="18" charset="0"/>
              <a:ea typeface="Inter Light"/>
              <a:cs typeface="Times New Roman" panose="02020603050405020304" pitchFamily="18" charset="0"/>
              <a:sym typeface="Inter Light"/>
            </a:endParaRPr>
          </a:p>
          <a:p>
            <a:pPr marL="0" lvl="0" indent="0" algn="l">
              <a:lnSpc>
                <a:spcPts val="1958"/>
              </a:lnSpc>
            </a:pPr>
            <a:r>
              <a:rPr lang="en-US" sz="4400" dirty="0">
                <a:solidFill>
                  <a:srgbClr val="FFC000"/>
                </a:solidFill>
                <a:latin typeface="Times New Roman" panose="02020603050405020304" pitchFamily="18" charset="0"/>
                <a:ea typeface="Inter Light"/>
                <a:cs typeface="Times New Roman" panose="02020603050405020304" pitchFamily="18" charset="0"/>
                <a:sym typeface="Inter Light"/>
              </a:rPr>
              <a:t>Shri Vindhya A </a:t>
            </a:r>
          </a:p>
          <a:p>
            <a:pPr marL="0" lvl="0" indent="0" algn="l">
              <a:lnSpc>
                <a:spcPts val="1958"/>
              </a:lnSpc>
            </a:pPr>
            <a:endParaRPr lang="en-US" sz="4400" dirty="0">
              <a:solidFill>
                <a:srgbClr val="FFC000"/>
              </a:solidFill>
              <a:latin typeface="Times New Roman" panose="02020603050405020304" pitchFamily="18" charset="0"/>
              <a:ea typeface="Inter Light"/>
              <a:cs typeface="Times New Roman" panose="02020603050405020304" pitchFamily="18" charset="0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43500" y="-51435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115300" y="1028700"/>
            <a:ext cx="4629150" cy="6172200"/>
            <a:chOff x="0" y="0"/>
            <a:chExt cx="1419732" cy="1892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9733" cy="1892988"/>
            </a:xfrm>
            <a:custGeom>
              <a:avLst/>
              <a:gdLst/>
              <a:ahLst/>
              <a:cxnLst/>
              <a:rect l="l" t="t" r="r" b="b"/>
              <a:pathLst>
                <a:path w="1419733" h="1892988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715315"/>
                  </a:lnTo>
                  <a:cubicBezTo>
                    <a:pt x="0" y="1813441"/>
                    <a:pt x="79547" y="1892988"/>
                    <a:pt x="177673" y="1892988"/>
                  </a:cubicBezTo>
                  <a:lnTo>
                    <a:pt x="1242060" y="1892988"/>
                  </a:lnTo>
                  <a:cubicBezTo>
                    <a:pt x="1340186" y="1892988"/>
                    <a:pt x="1419733" y="1813441"/>
                    <a:pt x="1419733" y="1715315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5572339"/>
            <a:ext cx="8115300" cy="3981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7"/>
              </a:lnSpc>
            </a:pPr>
            <a:r>
              <a:rPr lang="en-US" sz="10744" b="1" spc="-805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TYPES OF LEARNING PROBLEMS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540794"/>
            <a:ext cx="4714876" cy="642938"/>
            <a:chOff x="0" y="0"/>
            <a:chExt cx="3725334" cy="508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25334" cy="508000"/>
            </a:xfrm>
            <a:custGeom>
              <a:avLst/>
              <a:gdLst/>
              <a:ahLst/>
              <a:cxnLst/>
              <a:rect l="l" t="t" r="r" b="b"/>
              <a:pathLst>
                <a:path w="3725334" h="508000">
                  <a:moveTo>
                    <a:pt x="0" y="0"/>
                  </a:moveTo>
                  <a:lnTo>
                    <a:pt x="3725334" y="0"/>
                  </a:lnTo>
                  <a:lnTo>
                    <a:pt x="3725334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25334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2815953" y="-758553"/>
            <a:ext cx="2483394" cy="6057900"/>
            <a:chOff x="0" y="0"/>
            <a:chExt cx="1962188" cy="47864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188" cy="4786489"/>
            </a:xfrm>
            <a:custGeom>
              <a:avLst/>
              <a:gdLst/>
              <a:ahLst/>
              <a:cxnLst/>
              <a:rect l="l" t="t" r="r" b="b"/>
              <a:pathLst>
                <a:path w="1962188" h="4786489">
                  <a:moveTo>
                    <a:pt x="0" y="0"/>
                  </a:moveTo>
                  <a:lnTo>
                    <a:pt x="1962188" y="0"/>
                  </a:lnTo>
                  <a:lnTo>
                    <a:pt x="1962188" y="4786489"/>
                  </a:lnTo>
                  <a:lnTo>
                    <a:pt x="0" y="4786489"/>
                  </a:lnTo>
                  <a:close/>
                </a:path>
              </a:pathLst>
            </a:custGeom>
            <a:solidFill>
              <a:srgbClr val="0D0D17"/>
            </a:soli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62188" cy="4824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858478" y="1969678"/>
            <a:ext cx="353751" cy="353751"/>
          </a:xfrm>
          <a:custGeom>
            <a:avLst/>
            <a:gdLst/>
            <a:ahLst/>
            <a:cxnLst/>
            <a:rect l="l" t="t" r="r" b="b"/>
            <a:pathLst>
              <a:path w="353751" h="353751">
                <a:moveTo>
                  <a:pt x="0" y="0"/>
                </a:moveTo>
                <a:lnTo>
                  <a:pt x="353751" y="0"/>
                </a:lnTo>
                <a:lnTo>
                  <a:pt x="353751" y="353751"/>
                </a:lnTo>
                <a:lnTo>
                  <a:pt x="0" y="3537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5400000">
            <a:off x="11401425" y="3400425"/>
            <a:ext cx="8229600" cy="3486150"/>
            <a:chOff x="0" y="0"/>
            <a:chExt cx="6502400" cy="27544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502400" cy="2754489"/>
            </a:xfrm>
            <a:custGeom>
              <a:avLst/>
              <a:gdLst/>
              <a:ahLst/>
              <a:cxnLst/>
              <a:rect l="l" t="t" r="r" b="b"/>
              <a:pathLst>
                <a:path w="6502400" h="2754489">
                  <a:moveTo>
                    <a:pt x="0" y="0"/>
                  </a:moveTo>
                  <a:lnTo>
                    <a:pt x="6502400" y="0"/>
                  </a:lnTo>
                  <a:lnTo>
                    <a:pt x="6502400" y="2754489"/>
                  </a:lnTo>
                  <a:lnTo>
                    <a:pt x="0" y="2754489"/>
                  </a:lnTo>
                  <a:close/>
                </a:path>
              </a:pathLst>
            </a:custGeom>
            <a:solidFill>
              <a:srgbClr val="0D0D17"/>
            </a:soli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502400" cy="279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flipV="1">
            <a:off x="13773150" y="1028700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0" y="183713"/>
                </a:moveTo>
                <a:lnTo>
                  <a:pt x="183713" y="183713"/>
                </a:lnTo>
                <a:lnTo>
                  <a:pt x="183713" y="0"/>
                </a:lnTo>
                <a:lnTo>
                  <a:pt x="0" y="0"/>
                </a:lnTo>
                <a:lnTo>
                  <a:pt x="0" y="18371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flipH="1">
            <a:off x="17075587" y="9074587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183713" y="0"/>
                </a:moveTo>
                <a:lnTo>
                  <a:pt x="0" y="0"/>
                </a:lnTo>
                <a:lnTo>
                  <a:pt x="0" y="183713"/>
                </a:lnTo>
                <a:lnTo>
                  <a:pt x="183713" y="183713"/>
                </a:lnTo>
                <a:lnTo>
                  <a:pt x="18371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4689861"/>
            <a:ext cx="4714876" cy="30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 spc="-44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FROM SUPERVISED TO SELF-SUPERVISED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61056" y="1888072"/>
            <a:ext cx="3795766" cy="83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Machine learning encompasses distinct learning paradigms, each defined by how systems acquire knowledge from data and interact with their environment.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13078" y="1815182"/>
            <a:ext cx="2946222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Labeled training data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Prediction &amp; classification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Output-driven feedback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13078" y="1510345"/>
            <a:ext cx="29462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 1 – SUPERVISED LEARNING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313078" y="3612075"/>
            <a:ext cx="2946222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No labeled examples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Pattern discovery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Clustering &amp; grouping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313078" y="3059550"/>
            <a:ext cx="2406293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 2 – UNSUPERVISED LEARNING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313078" y="5161280"/>
            <a:ext cx="2946222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Agent-environment interaction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Reward-based optimization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313078" y="4856443"/>
            <a:ext cx="29462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 3 – REINFORCEMENT LEARNING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313078" y="6462798"/>
            <a:ext cx="240629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Combines labeled &amp; unlabeled data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Reduces annotation costs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313078" y="6157961"/>
            <a:ext cx="29462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 4 – SEMI-SUPERVISED LEARNING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313078" y="8012003"/>
            <a:ext cx="2406293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Auto-generated labels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Large-scale pretraining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313078" y="7707166"/>
            <a:ext cx="29462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TYPE 5 – SELF-SUPERVISED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16126" y="-51435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199217" y="3087243"/>
            <a:ext cx="3889566" cy="642938"/>
            <a:chOff x="0" y="0"/>
            <a:chExt cx="3073237" cy="50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73237" cy="508000"/>
            </a:xfrm>
            <a:custGeom>
              <a:avLst/>
              <a:gdLst/>
              <a:ahLst/>
              <a:cxnLst/>
              <a:rect l="l" t="t" r="r" b="b"/>
              <a:pathLst>
                <a:path w="3073237" h="508000">
                  <a:moveTo>
                    <a:pt x="0" y="0"/>
                  </a:moveTo>
                  <a:lnTo>
                    <a:pt x="3073237" y="0"/>
                  </a:lnTo>
                  <a:lnTo>
                    <a:pt x="3073237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073237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3730181"/>
            <a:ext cx="3600450" cy="5528119"/>
            <a:chOff x="0" y="0"/>
            <a:chExt cx="1419732" cy="21798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9733" cy="2179864"/>
            </a:xfrm>
            <a:custGeom>
              <a:avLst/>
              <a:gdLst/>
              <a:ahLst/>
              <a:cxnLst/>
              <a:rect l="l" t="t" r="r" b="b"/>
              <a:pathLst>
                <a:path w="1419733" h="2179864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002191"/>
                  </a:lnTo>
                  <a:cubicBezTo>
                    <a:pt x="0" y="2100317"/>
                    <a:pt x="79547" y="2179864"/>
                    <a:pt x="177673" y="2179864"/>
                  </a:cubicBezTo>
                  <a:lnTo>
                    <a:pt x="1242060" y="2179864"/>
                  </a:lnTo>
                  <a:cubicBezTo>
                    <a:pt x="1340186" y="2179864"/>
                    <a:pt x="1419733" y="2100317"/>
                    <a:pt x="1419733" y="2002191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4"/>
              <a:stretch>
                <a:fillRect l="-284" r="-284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658850" y="3730181"/>
            <a:ext cx="3600450" cy="5528119"/>
            <a:chOff x="0" y="0"/>
            <a:chExt cx="1419732" cy="21798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9733" cy="2179864"/>
            </a:xfrm>
            <a:custGeom>
              <a:avLst/>
              <a:gdLst/>
              <a:ahLst/>
              <a:cxnLst/>
              <a:rect l="l" t="t" r="r" b="b"/>
              <a:pathLst>
                <a:path w="1419733" h="2179864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002191"/>
                  </a:lnTo>
                  <a:cubicBezTo>
                    <a:pt x="0" y="2100317"/>
                    <a:pt x="79547" y="2179864"/>
                    <a:pt x="177673" y="2179864"/>
                  </a:cubicBezTo>
                  <a:lnTo>
                    <a:pt x="1242060" y="2179864"/>
                  </a:lnTo>
                  <a:cubicBezTo>
                    <a:pt x="1340186" y="2179864"/>
                    <a:pt x="1419733" y="2100317"/>
                    <a:pt x="1419733" y="2002191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5"/>
              <a:stretch>
                <a:fillRect l="-284" r="-284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 rot="-5400000">
            <a:off x="7943600" y="3503064"/>
            <a:ext cx="2400800" cy="6972300"/>
            <a:chOff x="0" y="0"/>
            <a:chExt cx="1896929" cy="550897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6929" cy="5508978"/>
            </a:xfrm>
            <a:custGeom>
              <a:avLst/>
              <a:gdLst/>
              <a:ahLst/>
              <a:cxnLst/>
              <a:rect l="l" t="t" r="r" b="b"/>
              <a:pathLst>
                <a:path w="1896929" h="5508978">
                  <a:moveTo>
                    <a:pt x="0" y="0"/>
                  </a:moveTo>
                  <a:lnTo>
                    <a:pt x="1896929" y="0"/>
                  </a:lnTo>
                  <a:lnTo>
                    <a:pt x="1896929" y="5508978"/>
                  </a:lnTo>
                  <a:lnTo>
                    <a:pt x="0" y="5508978"/>
                  </a:lnTo>
                  <a:close/>
                </a:path>
              </a:pathLst>
            </a:custGeom>
            <a:solidFill>
              <a:srgbClr val="0D0D17"/>
            </a:soli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896929" cy="5547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flipV="1">
            <a:off x="5657850" y="5788813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0" y="183714"/>
                </a:moveTo>
                <a:lnTo>
                  <a:pt x="183713" y="183714"/>
                </a:lnTo>
                <a:lnTo>
                  <a:pt x="183713" y="0"/>
                </a:lnTo>
                <a:lnTo>
                  <a:pt x="0" y="0"/>
                </a:lnTo>
                <a:lnTo>
                  <a:pt x="0" y="1837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>
            <a:off x="12446437" y="8005900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183713" y="0"/>
                </a:moveTo>
                <a:lnTo>
                  <a:pt x="0" y="0"/>
                </a:lnTo>
                <a:lnTo>
                  <a:pt x="0" y="183714"/>
                </a:lnTo>
                <a:lnTo>
                  <a:pt x="183713" y="183714"/>
                </a:lnTo>
                <a:lnTo>
                  <a:pt x="18371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629150" y="967208"/>
            <a:ext cx="9029700" cy="179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91"/>
              </a:lnSpc>
              <a:spcBef>
                <a:spcPct val="0"/>
              </a:spcBef>
            </a:pPr>
            <a:r>
              <a:rPr lang="en-US" sz="7254" b="1" u="none" strike="noStrike" spc="-544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LEARNING</a:t>
            </a:r>
          </a:p>
          <a:p>
            <a:pPr marL="0" lvl="0" indent="0" algn="ctr">
              <a:lnSpc>
                <a:spcPts val="6891"/>
              </a:lnSpc>
              <a:spcBef>
                <a:spcPct val="0"/>
              </a:spcBef>
            </a:pPr>
            <a:r>
              <a:rPr lang="en-US" sz="7254" b="1" u="none" strike="noStrike" spc="-544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PERSPECTIVES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199217" y="3236309"/>
            <a:ext cx="3889566" cy="26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2"/>
              </a:lnSpc>
            </a:pPr>
            <a:r>
              <a:rPr lang="en-US" sz="1544" b="1" spc="-38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SYMBOLIC VS STATISTICAL APPROACHES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0102" y="4509998"/>
            <a:ext cx="5367796" cy="42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"/>
              </a:lnSpc>
            </a:pPr>
            <a:r>
              <a:rPr lang="en-US" sz="1245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Machine learning is shaped by two core perspectives: rule-based symbolic reasoning and data-driven statistical modeling.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45702" y="6768943"/>
            <a:ext cx="2168982" cy="644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"/>
              </a:lnSpc>
            </a:pPr>
            <a:r>
              <a:rPr lang="en-US" sz="1245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Rule-based logic | Knowledge representation | Interpretable decisions | Expert systems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0761" y="6464106"/>
            <a:ext cx="2658865" cy="20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"/>
              </a:lnSpc>
            </a:pPr>
            <a:r>
              <a:rPr lang="en-US" sz="1245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SYMBOLIC APPROACHES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9034" y="6768943"/>
            <a:ext cx="2313263" cy="644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"/>
              </a:lnSpc>
            </a:pPr>
            <a:r>
              <a:rPr lang="en-US" sz="1245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Data-driven models | Probabilistic inference | Neural networks | Pattern recognition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59626" y="6464106"/>
            <a:ext cx="2852081" cy="206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43"/>
              </a:lnSpc>
            </a:pPr>
            <a:r>
              <a:rPr lang="en-US" sz="1245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STATISTICAL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5783937"/>
            <a:ext cx="3763388" cy="642938"/>
            <a:chOff x="0" y="0"/>
            <a:chExt cx="2973541" cy="50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73541" cy="508000"/>
            </a:xfrm>
            <a:custGeom>
              <a:avLst/>
              <a:gdLst/>
              <a:ahLst/>
              <a:cxnLst/>
              <a:rect l="l" t="t" r="r" b="b"/>
              <a:pathLst>
                <a:path w="2973541" h="508000">
                  <a:moveTo>
                    <a:pt x="0" y="0"/>
                  </a:moveTo>
                  <a:lnTo>
                    <a:pt x="2973541" y="0"/>
                  </a:lnTo>
                  <a:lnTo>
                    <a:pt x="2973541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73541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143500" y="51435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2404886"/>
            <a:ext cx="6057900" cy="6853414"/>
            <a:chOff x="0" y="0"/>
            <a:chExt cx="1460623" cy="16524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60627" cy="1652430"/>
            </a:xfrm>
            <a:custGeom>
              <a:avLst/>
              <a:gdLst/>
              <a:ahLst/>
              <a:cxnLst/>
              <a:rect l="l" t="t" r="r" b="b"/>
              <a:pathLst>
                <a:path w="1460627" h="1652430">
                  <a:moveTo>
                    <a:pt x="1460627" y="1036832"/>
                  </a:moveTo>
                  <a:lnTo>
                    <a:pt x="1460627" y="561989"/>
                  </a:lnTo>
                  <a:cubicBezTo>
                    <a:pt x="1460629" y="522853"/>
                    <a:pt x="1446205" y="485089"/>
                    <a:pt x="1420114" y="455919"/>
                  </a:cubicBezTo>
                  <a:lnTo>
                    <a:pt x="1046362" y="38122"/>
                  </a:lnTo>
                  <a:cubicBezTo>
                    <a:pt x="1024662" y="13865"/>
                    <a:pt x="993657" y="0"/>
                    <a:pt x="961111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082174"/>
                  </a:lnTo>
                  <a:cubicBezTo>
                    <a:pt x="0" y="1126640"/>
                    <a:pt x="16390" y="1169545"/>
                    <a:pt x="46036" y="1202685"/>
                  </a:cubicBezTo>
                  <a:lnTo>
                    <a:pt x="414263" y="1614308"/>
                  </a:lnTo>
                  <a:cubicBezTo>
                    <a:pt x="435962" y="1638565"/>
                    <a:pt x="466967" y="1652430"/>
                    <a:pt x="499514" y="1652430"/>
                  </a:cubicBezTo>
                  <a:lnTo>
                    <a:pt x="944739" y="1652430"/>
                  </a:lnTo>
                  <a:cubicBezTo>
                    <a:pt x="975076" y="1652430"/>
                    <a:pt x="1004170" y="1640379"/>
                    <a:pt x="1025621" y="1618928"/>
                  </a:cubicBezTo>
                  <a:cubicBezTo>
                    <a:pt x="1047073" y="1597477"/>
                    <a:pt x="1059124" y="1568383"/>
                    <a:pt x="1059124" y="1538046"/>
                  </a:cubicBezTo>
                  <a:lnTo>
                    <a:pt x="1059124" y="1265601"/>
                  </a:lnTo>
                  <a:cubicBezTo>
                    <a:pt x="1059124" y="1202427"/>
                    <a:pt x="1110336" y="1151216"/>
                    <a:pt x="1173509" y="1151216"/>
                  </a:cubicBezTo>
                  <a:lnTo>
                    <a:pt x="1346241" y="1151216"/>
                  </a:lnTo>
                  <a:cubicBezTo>
                    <a:pt x="1376578" y="1151216"/>
                    <a:pt x="1405672" y="1139165"/>
                    <a:pt x="1427124" y="1117714"/>
                  </a:cubicBezTo>
                  <a:cubicBezTo>
                    <a:pt x="1448576" y="1096263"/>
                    <a:pt x="1460627" y="1067169"/>
                    <a:pt x="1460627" y="1036832"/>
                  </a:cubicBezTo>
                  <a:close/>
                </a:path>
              </a:pathLst>
            </a:custGeom>
            <a:blipFill>
              <a:blip r:embed="rId4"/>
              <a:stretch>
                <a:fillRect t="-16211" b="-1621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-5400000">
            <a:off x="10824032" y="-1680032"/>
            <a:ext cx="3726537" cy="9144000"/>
            <a:chOff x="0" y="0"/>
            <a:chExt cx="2944424" cy="72248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44424" cy="7224889"/>
            </a:xfrm>
            <a:custGeom>
              <a:avLst/>
              <a:gdLst/>
              <a:ahLst/>
              <a:cxnLst/>
              <a:rect l="l" t="t" r="r" b="b"/>
              <a:pathLst>
                <a:path w="2944424" h="7224889">
                  <a:moveTo>
                    <a:pt x="0" y="0"/>
                  </a:moveTo>
                  <a:lnTo>
                    <a:pt x="2944424" y="0"/>
                  </a:lnTo>
                  <a:lnTo>
                    <a:pt x="2944424" y="7224889"/>
                  </a:lnTo>
                  <a:lnTo>
                    <a:pt x="0" y="7224889"/>
                  </a:lnTo>
                  <a:close/>
                </a:path>
              </a:pathLst>
            </a:custGeom>
            <a:solidFill>
              <a:srgbClr val="0D0D17"/>
            </a:soli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944424" cy="7262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flipV="1">
            <a:off x="8115300" y="1028700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0" y="183713"/>
                </a:moveTo>
                <a:lnTo>
                  <a:pt x="183713" y="183713"/>
                </a:lnTo>
                <a:lnTo>
                  <a:pt x="183713" y="0"/>
                </a:lnTo>
                <a:lnTo>
                  <a:pt x="0" y="0"/>
                </a:lnTo>
                <a:lnTo>
                  <a:pt x="0" y="18371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7075587" y="4571523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183713" y="0"/>
                </a:moveTo>
                <a:lnTo>
                  <a:pt x="0" y="0"/>
                </a:lnTo>
                <a:lnTo>
                  <a:pt x="0" y="183714"/>
                </a:lnTo>
                <a:lnTo>
                  <a:pt x="183713" y="183714"/>
                </a:lnTo>
                <a:lnTo>
                  <a:pt x="18371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144000" y="6841419"/>
            <a:ext cx="8785876" cy="268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88"/>
              </a:lnSpc>
            </a:pPr>
            <a:r>
              <a:rPr lang="en-US" sz="10829" b="1" spc="-270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KEY ISSUES</a:t>
            </a:r>
          </a:p>
          <a:p>
            <a:pPr marL="0" lvl="0" indent="0" algn="l">
              <a:lnSpc>
                <a:spcPts val="10288"/>
              </a:lnSpc>
            </a:pPr>
            <a:r>
              <a:rPr lang="en-US" sz="10829" b="1" spc="-270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IN ML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5933003"/>
            <a:ext cx="3763388" cy="30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 spc="-44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MACHINE LEARNING CHALLENGES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116714" y="5443111"/>
            <a:ext cx="2142586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Key issues like data quality, overfitting, and complexity directly shape the design and performance of learning systems.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18275" y="2785905"/>
            <a:ext cx="3089113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Noise &amp; Missing Values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Bias &amp; Imbalance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Representativeness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8275" y="2233380"/>
            <a:ext cx="235467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QUALITY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201650" y="2146404"/>
            <a:ext cx="4057650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Poor Generalization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Model Complexity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Regularization Needs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201650" y="1841567"/>
            <a:ext cx="405765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OVERFITTING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01650" y="3425406"/>
            <a:ext cx="4057650" cy="62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Scalability Limits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High Training Time</a:t>
            </a:r>
          </a:p>
          <a:p>
            <a:pPr marL="0" lvl="0" indent="0" algn="l">
              <a:lnSpc>
                <a:spcPts val="1679"/>
              </a:lnSpc>
            </a:pPr>
            <a:r>
              <a:rPr lang="en-US" sz="1200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Resource Constraints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01650" y="3120568"/>
            <a:ext cx="405765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</a:pPr>
            <a:r>
              <a:rPr lang="en-US" sz="1200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COMPUTATIONAL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3161891"/>
            <a:ext cx="2970353" cy="642938"/>
            <a:chOff x="0" y="0"/>
            <a:chExt cx="2346945" cy="50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46945" cy="508000"/>
            </a:xfrm>
            <a:custGeom>
              <a:avLst/>
              <a:gdLst/>
              <a:ahLst/>
              <a:cxnLst/>
              <a:rect l="l" t="t" r="r" b="b"/>
              <a:pathLst>
                <a:path w="2346945" h="508000">
                  <a:moveTo>
                    <a:pt x="0" y="0"/>
                  </a:moveTo>
                  <a:lnTo>
                    <a:pt x="2346945" y="0"/>
                  </a:lnTo>
                  <a:lnTo>
                    <a:pt x="2346945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46945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4476733" y="2533633"/>
            <a:ext cx="3276634" cy="10172700"/>
            <a:chOff x="0" y="0"/>
            <a:chExt cx="2588945" cy="80376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88945" cy="8037689"/>
            </a:xfrm>
            <a:custGeom>
              <a:avLst/>
              <a:gdLst/>
              <a:ahLst/>
              <a:cxnLst/>
              <a:rect l="l" t="t" r="r" b="b"/>
              <a:pathLst>
                <a:path w="2588945" h="8037689">
                  <a:moveTo>
                    <a:pt x="0" y="0"/>
                  </a:moveTo>
                  <a:lnTo>
                    <a:pt x="2588945" y="0"/>
                  </a:lnTo>
                  <a:lnTo>
                    <a:pt x="2588945" y="8037689"/>
                  </a:lnTo>
                  <a:lnTo>
                    <a:pt x="0" y="8037689"/>
                  </a:lnTo>
                  <a:close/>
                </a:path>
              </a:pathLst>
            </a:custGeom>
            <a:solidFill>
              <a:srgbClr val="0D0D17"/>
            </a:solidFill>
            <a:ln w="9525" cap="sq">
              <a:gradFill>
                <a:gsLst>
                  <a:gs pos="0">
                    <a:srgbClr val="F3F3F3">
                      <a:alpha val="76000"/>
                    </a:srgbClr>
                  </a:gs>
                  <a:gs pos="33333">
                    <a:srgbClr val="192416">
                      <a:alpha val="100000"/>
                    </a:srgbClr>
                  </a:gs>
                  <a:gs pos="66667">
                    <a:srgbClr val="192416">
                      <a:alpha val="100000"/>
                    </a:srgbClr>
                  </a:gs>
                  <a:gs pos="100000">
                    <a:srgbClr val="F3F3F3">
                      <a:alpha val="75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588945" cy="8075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144500" y="41148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230100" y="3161891"/>
            <a:ext cx="5029200" cy="6096409"/>
            <a:chOff x="0" y="0"/>
            <a:chExt cx="1580346" cy="1915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80350" cy="1915700"/>
            </a:xfrm>
            <a:custGeom>
              <a:avLst/>
              <a:gdLst/>
              <a:ahLst/>
              <a:cxnLst/>
              <a:rect l="l" t="t" r="r" b="b"/>
              <a:pathLst>
                <a:path w="1580350" h="1915700">
                  <a:moveTo>
                    <a:pt x="1580350" y="1300102"/>
                  </a:moveTo>
                  <a:lnTo>
                    <a:pt x="1580350" y="561989"/>
                  </a:lnTo>
                  <a:cubicBezTo>
                    <a:pt x="1580352" y="522853"/>
                    <a:pt x="1565928" y="485089"/>
                    <a:pt x="1539837" y="455919"/>
                  </a:cubicBezTo>
                  <a:lnTo>
                    <a:pt x="1166085" y="38122"/>
                  </a:lnTo>
                  <a:cubicBezTo>
                    <a:pt x="1144386" y="13865"/>
                    <a:pt x="1113380" y="0"/>
                    <a:pt x="1080834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345444"/>
                  </a:lnTo>
                  <a:cubicBezTo>
                    <a:pt x="0" y="1389910"/>
                    <a:pt x="16390" y="1432815"/>
                    <a:pt x="46036" y="1465955"/>
                  </a:cubicBezTo>
                  <a:lnTo>
                    <a:pt x="414263" y="1877578"/>
                  </a:lnTo>
                  <a:cubicBezTo>
                    <a:pt x="435962" y="1901835"/>
                    <a:pt x="466967" y="1915700"/>
                    <a:pt x="499514" y="1915700"/>
                  </a:cubicBezTo>
                  <a:lnTo>
                    <a:pt x="1064462" y="1915700"/>
                  </a:lnTo>
                  <a:cubicBezTo>
                    <a:pt x="1094799" y="1915700"/>
                    <a:pt x="1123893" y="1903649"/>
                    <a:pt x="1145345" y="1882198"/>
                  </a:cubicBezTo>
                  <a:cubicBezTo>
                    <a:pt x="1166796" y="1860747"/>
                    <a:pt x="1178847" y="1831653"/>
                    <a:pt x="1178847" y="1801316"/>
                  </a:cubicBezTo>
                  <a:lnTo>
                    <a:pt x="1178847" y="1528871"/>
                  </a:lnTo>
                  <a:cubicBezTo>
                    <a:pt x="1178847" y="1465697"/>
                    <a:pt x="1230059" y="1414486"/>
                    <a:pt x="1293232" y="1414486"/>
                  </a:cubicBezTo>
                  <a:lnTo>
                    <a:pt x="1465964" y="1414486"/>
                  </a:lnTo>
                  <a:cubicBezTo>
                    <a:pt x="1496301" y="1414486"/>
                    <a:pt x="1525395" y="1402435"/>
                    <a:pt x="1546847" y="1380984"/>
                  </a:cubicBezTo>
                  <a:cubicBezTo>
                    <a:pt x="1568299" y="1359533"/>
                    <a:pt x="1580350" y="1330439"/>
                    <a:pt x="1580350" y="1300102"/>
                  </a:cubicBezTo>
                  <a:close/>
                </a:path>
              </a:pathLst>
            </a:custGeom>
            <a:blipFill>
              <a:blip r:embed="rId4"/>
              <a:stretch>
                <a:fillRect l="-3" r="-3"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 flipV="1">
            <a:off x="1028700" y="5981666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0" y="183714"/>
                </a:moveTo>
                <a:lnTo>
                  <a:pt x="183713" y="183714"/>
                </a:lnTo>
                <a:lnTo>
                  <a:pt x="183713" y="0"/>
                </a:lnTo>
                <a:lnTo>
                  <a:pt x="0" y="0"/>
                </a:lnTo>
                <a:lnTo>
                  <a:pt x="0" y="18371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1017687" y="9074587"/>
            <a:ext cx="183713" cy="183713"/>
          </a:xfrm>
          <a:custGeom>
            <a:avLst/>
            <a:gdLst/>
            <a:ahLst/>
            <a:cxnLst/>
            <a:rect l="l" t="t" r="r" b="b"/>
            <a:pathLst>
              <a:path w="183713" h="183713">
                <a:moveTo>
                  <a:pt x="183713" y="0"/>
                </a:moveTo>
                <a:lnTo>
                  <a:pt x="0" y="0"/>
                </a:lnTo>
                <a:lnTo>
                  <a:pt x="0" y="183713"/>
                </a:lnTo>
                <a:lnTo>
                  <a:pt x="183713" y="183713"/>
                </a:lnTo>
                <a:lnTo>
                  <a:pt x="18371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712731" y="4546780"/>
            <a:ext cx="353751" cy="353751"/>
          </a:xfrm>
          <a:custGeom>
            <a:avLst/>
            <a:gdLst/>
            <a:ahLst/>
            <a:cxnLst/>
            <a:rect l="l" t="t" r="r" b="b"/>
            <a:pathLst>
              <a:path w="353751" h="353751">
                <a:moveTo>
                  <a:pt x="0" y="0"/>
                </a:moveTo>
                <a:lnTo>
                  <a:pt x="353750" y="0"/>
                </a:lnTo>
                <a:lnTo>
                  <a:pt x="353750" y="353751"/>
                </a:lnTo>
                <a:lnTo>
                  <a:pt x="0" y="35375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965539"/>
            <a:ext cx="10172700" cy="1835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8"/>
              </a:lnSpc>
            </a:pPr>
            <a:r>
              <a:rPr lang="en-US" sz="7409" b="1" spc="-555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DESIGN &amp;</a:t>
            </a:r>
          </a:p>
          <a:p>
            <a:pPr marL="0" lvl="0" indent="0" algn="l">
              <a:lnSpc>
                <a:spcPts val="7038"/>
              </a:lnSpc>
            </a:pPr>
            <a:r>
              <a:rPr lang="en-US" sz="7409" b="1" spc="-555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PERFORMANCE IMPACT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320483"/>
            <a:ext cx="2970353" cy="28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65"/>
              </a:lnSpc>
            </a:pPr>
            <a:r>
              <a:rPr lang="en-US" sz="1761" b="1" spc="-44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KEY INFLUENCING FACTORS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12731" y="3224943"/>
            <a:ext cx="5488669" cy="70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Data quality, overfitting, and computational complexity are critical factors that shape the design choices and real-world performance of machine learning systems.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5918" y="7390188"/>
            <a:ext cx="2620906" cy="70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Affects model reliability</a:t>
            </a:r>
          </a:p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Biased data skews outputs</a:t>
            </a:r>
          </a:p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Noise degrades accuracy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45918" y="7085350"/>
            <a:ext cx="2620906" cy="2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QUALITY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95062" y="7390188"/>
            <a:ext cx="2937567" cy="4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Reduces generalization</a:t>
            </a:r>
          </a:p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Poor real-world performance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95062" y="7085350"/>
            <a:ext cx="2937567" cy="2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OVERFITTING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3972" y="7390188"/>
            <a:ext cx="2280210" cy="70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Model complexity trade-offs</a:t>
            </a:r>
          </a:p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Resource vs. accuracy balance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3972" y="7085350"/>
            <a:ext cx="2743593" cy="2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COMPUTATIONAL COST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15308" y="4741436"/>
            <a:ext cx="4886092" cy="707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These factors determine whether a learning system generalizes well, scales efficiently, and delivers reliable predictions in production environments.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15308" y="4436598"/>
            <a:ext cx="4886092" cy="2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7"/>
              </a:lnSpc>
            </a:pPr>
            <a:r>
              <a:rPr lang="en-US" sz="1377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IMPACT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44500" y="411480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87050" y="4602272"/>
            <a:ext cx="2550796" cy="642938"/>
            <a:chOff x="0" y="0"/>
            <a:chExt cx="2015444" cy="508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15444" cy="508000"/>
            </a:xfrm>
            <a:custGeom>
              <a:avLst/>
              <a:gdLst/>
              <a:ahLst/>
              <a:cxnLst/>
              <a:rect l="l" t="t" r="r" b="b"/>
              <a:pathLst>
                <a:path w="2015444" h="508000">
                  <a:moveTo>
                    <a:pt x="0" y="0"/>
                  </a:moveTo>
                  <a:lnTo>
                    <a:pt x="2015444" y="0"/>
                  </a:lnTo>
                  <a:lnTo>
                    <a:pt x="2015444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7FE709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15444" cy="54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1028700"/>
            <a:ext cx="8115300" cy="4216510"/>
            <a:chOff x="0" y="0"/>
            <a:chExt cx="1657619" cy="8612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57622" cy="861258"/>
            </a:xfrm>
            <a:custGeom>
              <a:avLst/>
              <a:gdLst/>
              <a:ahLst/>
              <a:cxnLst/>
              <a:rect l="l" t="t" r="r" b="b"/>
              <a:pathLst>
                <a:path w="1657622" h="861258">
                  <a:moveTo>
                    <a:pt x="1310663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09206" y="861258"/>
                  </a:lnTo>
                  <a:cubicBezTo>
                    <a:pt x="1548568" y="861258"/>
                    <a:pt x="1586318" y="845622"/>
                    <a:pt x="1614152" y="817789"/>
                  </a:cubicBezTo>
                  <a:cubicBezTo>
                    <a:pt x="1641985" y="789956"/>
                    <a:pt x="1657622" y="752206"/>
                    <a:pt x="1657622" y="712843"/>
                  </a:cubicBezTo>
                  <a:lnTo>
                    <a:pt x="1657622" y="366141"/>
                  </a:lnTo>
                  <a:cubicBezTo>
                    <a:pt x="1657622" y="329143"/>
                    <a:pt x="1643803" y="293478"/>
                    <a:pt x="1618873" y="266140"/>
                  </a:cubicBezTo>
                  <a:lnTo>
                    <a:pt x="1420330" y="48414"/>
                  </a:lnTo>
                  <a:cubicBezTo>
                    <a:pt x="1392207" y="17574"/>
                    <a:pt x="1352400" y="0"/>
                    <a:pt x="1310663" y="0"/>
                  </a:cubicBezTo>
                  <a:close/>
                </a:path>
              </a:pathLst>
            </a:custGeom>
            <a:blipFill>
              <a:blip r:embed="rId4"/>
              <a:stretch>
                <a:fillRect t="-14235" b="-14235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687050" y="831051"/>
            <a:ext cx="6572250" cy="291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1"/>
              </a:lnSpc>
            </a:pPr>
            <a:r>
              <a:rPr lang="en-US" sz="7949" b="1" spc="-596">
                <a:gradFill>
                  <a:gsLst>
                    <a:gs pos="0">
                      <a:srgbClr val="9B9B9B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Space Mono Bold"/>
                <a:ea typeface="Space Mono Bold"/>
                <a:cs typeface="Space Mono Bold"/>
                <a:sym typeface="Space Mono Bold"/>
              </a:rPr>
              <a:t>LEARNING PROBLEMS &amp; PERSPECTIVES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7050" y="4751339"/>
            <a:ext cx="2550796" cy="306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8"/>
              </a:lnSpc>
            </a:pPr>
            <a:r>
              <a:rPr lang="en-US" sz="1798" b="1" spc="-44">
                <a:solidFill>
                  <a:srgbClr val="0D0D17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87050" y="6256038"/>
            <a:ext cx="6572250" cy="453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4"/>
              </a:lnSpc>
            </a:pPr>
            <a:r>
              <a:rPr lang="en-US" sz="1289">
                <a:solidFill>
                  <a:srgbClr val="F3F3F3"/>
                </a:solidFill>
                <a:latin typeface="Inter Light"/>
                <a:ea typeface="Inter Light"/>
                <a:cs typeface="Inter Light"/>
                <a:sym typeface="Inter Light"/>
              </a:rPr>
              <a:t>Understanding learning paradigms and challenges is essential for building effective ML systems. Consider these critical factors when designing your next learning system.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87050" y="8042367"/>
            <a:ext cx="6572250" cy="113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4"/>
              </a:lnSpc>
              <a:spcBef>
                <a:spcPct val="0"/>
              </a:spcBef>
            </a:pPr>
            <a:r>
              <a:rPr lang="en-US" sz="1289" u="none" strike="noStrike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Supervised, unsupervised, and reinforcement learning address distinct problem types.</a:t>
            </a:r>
          </a:p>
          <a:p>
            <a:pPr marL="0" lvl="0" indent="0" algn="l">
              <a:lnSpc>
                <a:spcPts val="1804"/>
              </a:lnSpc>
              <a:spcBef>
                <a:spcPct val="0"/>
              </a:spcBef>
            </a:pPr>
            <a:r>
              <a:rPr lang="en-US" sz="1289" u="none" strike="noStrike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Symbolic and statistical approaches offer complementary perspectives.</a:t>
            </a:r>
          </a:p>
          <a:p>
            <a:pPr marL="0" lvl="0" indent="0" algn="l">
              <a:lnSpc>
                <a:spcPts val="1804"/>
              </a:lnSpc>
              <a:spcBef>
                <a:spcPct val="0"/>
              </a:spcBef>
            </a:pPr>
            <a:r>
              <a:rPr lang="en-US" sz="1289" u="none" strike="noStrike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Data quality is foundational to any effective learning system.</a:t>
            </a:r>
          </a:p>
          <a:p>
            <a:pPr marL="0" lvl="0" indent="0" algn="l">
              <a:lnSpc>
                <a:spcPts val="1804"/>
              </a:lnSpc>
              <a:spcBef>
                <a:spcPct val="0"/>
              </a:spcBef>
            </a:pPr>
            <a:r>
              <a:rPr lang="en-US" sz="1289" u="none" strike="noStrike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Overfitting and generalization remain central design challenges.</a:t>
            </a:r>
          </a:p>
          <a:p>
            <a:pPr marL="0" lvl="0" indent="0" algn="l">
              <a:lnSpc>
                <a:spcPts val="1804"/>
              </a:lnSpc>
              <a:spcBef>
                <a:spcPct val="0"/>
              </a:spcBef>
            </a:pPr>
            <a:r>
              <a:rPr lang="en-US" sz="1289" u="none" strike="noStrike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Computational complexity shapes algorithm selection and scalability.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7050" y="7737530"/>
            <a:ext cx="6572250" cy="224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4"/>
              </a:lnSpc>
            </a:pPr>
            <a:r>
              <a:rPr lang="en-US" sz="1289" b="1">
                <a:solidFill>
                  <a:srgbClr val="F3F3F3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KEY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370</Words>
  <Application>Microsoft Office PowerPoint</Application>
  <PresentationFormat>Custom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Inter Semi-Bold</vt:lpstr>
      <vt:lpstr>Space Mono Bold</vt:lpstr>
      <vt:lpstr>Arial</vt:lpstr>
      <vt:lpstr>Inter</vt:lpstr>
      <vt:lpstr>Times New Roman</vt:lpstr>
      <vt:lpstr>Inter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S.Swagat 192312007</dc:title>
  <dc:creator>Swagat</dc:creator>
  <cp:lastModifiedBy>Swagat S</cp:lastModifiedBy>
  <cp:revision>2</cp:revision>
  <dcterms:created xsi:type="dcterms:W3CDTF">2006-08-16T00:00:00Z</dcterms:created>
  <dcterms:modified xsi:type="dcterms:W3CDTF">2026-07-28T14:40:21Z</dcterms:modified>
  <dc:identifier>DAHQrtyQbBA</dc:identifier>
</cp:coreProperties>
</file>